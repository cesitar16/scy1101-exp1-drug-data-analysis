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4" r:id="rId6"/>
    <p:sldId id="260" r:id="rId7"/>
    <p:sldId id="268" r:id="rId8"/>
    <p:sldId id="269" r:id="rId9"/>
    <p:sldId id="261" r:id="rId10"/>
    <p:sldId id="262" r:id="rId11"/>
    <p:sldId id="270" r:id="rId12"/>
    <p:sldId id="271" r:id="rId13"/>
    <p:sldId id="263" r:id="rId14"/>
    <p:sldId id="264" r:id="rId15"/>
    <p:sldId id="272" r:id="rId16"/>
    <p:sldId id="273" r:id="rId17"/>
    <p:sldId id="265" r:id="rId18"/>
    <p:sldId id="266" r:id="rId19"/>
    <p:sldId id="267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1368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9E96C-7BE5-3335-F0FF-683028544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2F4CE-2298-6AB5-F4EF-C7FEA33FD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0501D-17BA-E2F8-E168-C07B03DD6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CE033-840D-EF8E-7F3C-52FFE4EFE5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56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3E0BB-7D47-FB76-167D-845D4A9E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A9144-5C62-6173-E21D-A8CC9A521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4316D3-2D50-0CE7-499B-FEE3AAFEF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B95EF-47CF-D774-8DFC-74541B9521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80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1012C-45C0-BC63-E403-AE4959C0C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73221-8242-B26B-E87B-727A292AD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D062BD-7A21-9A5E-0FE4-B3766F865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2D9A0-236C-9754-6F54-33C897C0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70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D4351-5C69-B668-8BD7-1348CB607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ED900F-0139-15D2-10D5-AA5D638E1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CC478-8A68-F328-2C84-B27ED01E1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BB0AE-1FFC-C437-F55D-DAC7698279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781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1C0E0-1861-DDBD-8C7A-7462B7689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CF807-E8C2-4EF8-A1A2-5EC0F5BA9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F5880-C4E9-52FB-11DC-A6952DD16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680E2-F3CC-9E65-93CB-EF7328B817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425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6104F-0712-9BB9-E1BC-53430E1CA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4498E8-1B7E-A8AD-BA51-A68BC6A47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8ACC5A-258A-D776-618E-25C61E3FD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D38B5-17F2-63FF-CAA5-CE7BC3BAF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555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62B47"/>
          </a:solidFill>
          <a:ln w="12700">
            <a:solidFill>
              <a:srgbClr val="162B4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TÉCNICO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Dataset de Medicamentos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8013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Medicine_Details.csv  ·  11.825 registros  ·  9 columnas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enfoques de análisis: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743200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Combinaciones de Componentes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2743200"/>
            <a:ext cx="2743200" cy="45720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33756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Comparación por Empresa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2743200"/>
            <a:ext cx="2743200" cy="4572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594360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Efectos Secundarios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SCY1101  ·  DuocUC  ·  Evaluación Parcial N°1  ·  Abril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SCY1101 · Análisis de Medicamentos · DuocUC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analizamos y por qué?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931920" cy="3246120"/>
          </a:xfrm>
          <a:prstGeom prst="rect">
            <a:avLst/>
          </a:prstGeom>
          <a:solidFill>
            <a:srgbClr val="D5E8F0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Medicine_Details.csv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Kaggle — aadyasingh55/drug-dataset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5694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11.825 medicamentos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759 fabricantes únicos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1729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1.058 componentes activos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474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9 columnas originales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7764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0782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MD5: 93656e73e4e8fbf7dd8da9ecfab7ce07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0" y="1417320"/>
            <a:ext cx="4206240" cy="960120"/>
          </a:xfrm>
          <a:prstGeom prst="rect">
            <a:avLst/>
          </a:prstGeom>
          <a:solidFill>
            <a:srgbClr val="E8F5E9"/>
          </a:solidFill>
          <a:ln w="190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4572000" y="1417320"/>
            <a:ext cx="109728" cy="9601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4800600" y="149047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¿Qué componentes dominan el mercado y cómo se combinan?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2532888"/>
            <a:ext cx="4206240" cy="960120"/>
          </a:xfrm>
          <a:prstGeom prst="rect">
            <a:avLst/>
          </a:prstGeom>
          <a:solidFill>
            <a:srgbClr val="FBE9E7"/>
          </a:solidFill>
          <a:ln w="1905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4572000" y="2532888"/>
            <a:ext cx="109728" cy="96012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800600" y="260604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¿El tamaño del fabricante garantiza mejor calidad?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3648456"/>
            <a:ext cx="4206240" cy="960120"/>
          </a:xfrm>
          <a:prstGeom prst="rect">
            <a:avLst/>
          </a:prstGeom>
          <a:solidFill>
            <a:srgbClr val="F3E5F5"/>
          </a:solidFill>
          <a:ln w="1905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4572000" y="3648456"/>
            <a:ext cx="109728" cy="9601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4800600" y="372160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¿Cómo se relacionan los efectos secundarios con la composición?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SCY1101 · Análisis de Medicamentos · DuocUC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 Técnico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536192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1536192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196596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2395728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load_data.py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kagglehub + pathlib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6232" y="1764792"/>
            <a:ext cx="164592" cy="36576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2039112" y="1417320"/>
            <a:ext cx="1536192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2039112" y="1417320"/>
            <a:ext cx="1536192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2039112" y="141732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39112" y="196596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12264" y="2395728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cleaning.py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duplicados eliminados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75304" y="1764792"/>
            <a:ext cx="164592" cy="36576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3758184" y="1417320"/>
            <a:ext cx="1536192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BF36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3758184" y="1417320"/>
            <a:ext cx="1536192" cy="50292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3758184" y="141732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758184" y="196596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31336" y="2395728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transform.py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 · groupby · crosstab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94376" y="1764792"/>
            <a:ext cx="164592" cy="36576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5477256" y="1417320"/>
            <a:ext cx="1536192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14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477256" y="1417320"/>
            <a:ext cx="1536192" cy="5029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5477256" y="141732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77256" y="196596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50408" y="2395728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validation.py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· esquema · shapes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13448" y="1764792"/>
            <a:ext cx="164592" cy="36576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7196328" y="1417320"/>
            <a:ext cx="1536192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7196328" y="1417320"/>
            <a:ext cx="1536192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7196328" y="141732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196328" y="196596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69480" y="2395728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analysis.py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gráficos generados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133088"/>
            <a:ext cx="8503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320040" y="413308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 ·  venv  ·  pandas  ·  numpy  ·  matplotlib  ·  seaborn  ·  networkx  ·  scikit-learn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SCY1101 · Análisis de Medicamentos · DuocUC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Combinaciones de Componentes Activos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8412480" cy="3657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365760" y="1389888"/>
            <a:ext cx="2606040" cy="1417320"/>
          </a:xfrm>
          <a:prstGeom prst="rect">
            <a:avLst/>
          </a:prstGeom>
          <a:solidFill>
            <a:srgbClr val="E8F5E9"/>
          </a:solidFill>
          <a:ln w="190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65760" y="148132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únicos detectados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389888"/>
            <a:ext cx="2606040" cy="1417320"/>
          </a:xfrm>
          <a:prstGeom prst="rect">
            <a:avLst/>
          </a:prstGeom>
          <a:solidFill>
            <a:srgbClr val="E8F5E9"/>
          </a:solidFill>
          <a:ln w="190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200400" y="148132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840" y="2148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 con Metformin (hub)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389888"/>
            <a:ext cx="2606040" cy="1417320"/>
          </a:xfrm>
          <a:prstGeom prst="rect">
            <a:avLst/>
          </a:prstGeom>
          <a:solidFill>
            <a:srgbClr val="E8F5E9"/>
          </a:solidFill>
          <a:ln w="190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035040" y="148132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2148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Glimepiride + Metformin (par top)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944368"/>
            <a:ext cx="841248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548640" y="29992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clave: explode() → df_exploded (17.957 filas)  ·  itertools.combinations → df_pairs (8.227 pares)  ·  pd.crosstab() → cooc_matrix (20×20)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3649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pd.Categorical(ordered=True) garantiza orden farmacológico: mono &lt; duo &lt; trio &lt; cuádruple &lt; complejo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37360" y="3931920"/>
            <a:ext cx="1280160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1737360" y="3931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 59,8%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54680" y="3931920"/>
            <a:ext cx="128016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3154680" y="3931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 30,4%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3931920"/>
            <a:ext cx="1280160" cy="3200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4572000" y="3931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 7,9%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89320" y="3931920"/>
            <a:ext cx="12801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5989320" y="3931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cuádruple 1,3%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06640" y="3931920"/>
            <a:ext cx="1280160" cy="32004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7406640" y="3931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complejo 0,7%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>
            <a:extLst>
              <a:ext uri="{FF2B5EF4-FFF2-40B4-BE49-F238E27FC236}">
                <a16:creationId xmlns:a16="http://schemas.microsoft.com/office/drawing/2014/main" id="{CF5BC78F-B65A-C949-C7EE-9310198F9C4C}"/>
              </a:ext>
            </a:extLst>
          </p:cNvPr>
          <p:cNvSpPr/>
          <p:nvPr/>
        </p:nvSpPr>
        <p:spPr>
          <a:xfrm>
            <a:off x="1078992" y="16459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41C38A98-536C-D0D4-5063-E5E0368F8007}"/>
              </a:ext>
            </a:extLst>
          </p:cNvPr>
          <p:cNvSpPr/>
          <p:nvPr/>
        </p:nvSpPr>
        <p:spPr>
          <a:xfrm>
            <a:off x="1078992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1</a:t>
            </a:r>
            <a:endParaRPr lang="en-US" sz="9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51A890DA-16ED-B8B6-D049-AF09EF254449}"/>
              </a:ext>
            </a:extLst>
          </p:cNvPr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</p:txBody>
      </p:sp>
      <p:sp>
        <p:nvSpPr>
          <p:cNvPr id="65" name="Shape 3">
            <a:extLst>
              <a:ext uri="{FF2B5EF4-FFF2-40B4-BE49-F238E27FC236}">
                <a16:creationId xmlns:a16="http://schemas.microsoft.com/office/drawing/2014/main" id="{D8B4980C-ABFF-05AE-E21F-9582FC343E19}"/>
              </a:ext>
            </a:extLst>
          </p:cNvPr>
          <p:cNvSpPr/>
          <p:nvPr/>
        </p:nvSpPr>
        <p:spPr>
          <a:xfrm>
            <a:off x="3569643" y="16459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6" name="Text 4">
            <a:extLst>
              <a:ext uri="{FF2B5EF4-FFF2-40B4-BE49-F238E27FC236}">
                <a16:creationId xmlns:a16="http://schemas.microsoft.com/office/drawing/2014/main" id="{10C9F60E-8FB1-0093-50BB-FB84BE78ED56}"/>
              </a:ext>
            </a:extLst>
          </p:cNvPr>
          <p:cNvSpPr/>
          <p:nvPr/>
        </p:nvSpPr>
        <p:spPr>
          <a:xfrm>
            <a:off x="3569643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2</a:t>
            </a:r>
            <a:endParaRPr lang="en-US" sz="900" dirty="0"/>
          </a:p>
        </p:txBody>
      </p:sp>
      <p:sp>
        <p:nvSpPr>
          <p:cNvPr id="67" name="Shape 3">
            <a:extLst>
              <a:ext uri="{FF2B5EF4-FFF2-40B4-BE49-F238E27FC236}">
                <a16:creationId xmlns:a16="http://schemas.microsoft.com/office/drawing/2014/main" id="{5E30F198-EE33-3041-22EC-9BE54D3C89D4}"/>
              </a:ext>
            </a:extLst>
          </p:cNvPr>
          <p:cNvSpPr/>
          <p:nvPr/>
        </p:nvSpPr>
        <p:spPr>
          <a:xfrm>
            <a:off x="6115376" y="16459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365D74D8-4B8D-1B66-4F85-7FE0C453874D}"/>
              </a:ext>
            </a:extLst>
          </p:cNvPr>
          <p:cNvSpPr/>
          <p:nvPr/>
        </p:nvSpPr>
        <p:spPr>
          <a:xfrm>
            <a:off x="6115376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3</a:t>
            </a:r>
            <a:endParaRPr lang="en-US" sz="900" dirty="0"/>
          </a:p>
        </p:txBody>
      </p:sp>
      <p:pic>
        <p:nvPicPr>
          <p:cNvPr id="80" name="Imagen 79">
            <a:extLst>
              <a:ext uri="{FF2B5EF4-FFF2-40B4-BE49-F238E27FC236}">
                <a16:creationId xmlns:a16="http://schemas.microsoft.com/office/drawing/2014/main" id="{03E868AA-3DE8-7518-71AA-54B7075EA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84" y="1100545"/>
            <a:ext cx="3666315" cy="1933303"/>
          </a:xfrm>
          <a:prstGeom prst="rect">
            <a:avLst/>
          </a:prstGeom>
        </p:spPr>
      </p:pic>
      <p:pic>
        <p:nvPicPr>
          <p:cNvPr id="82" name="Imagen 81">
            <a:extLst>
              <a:ext uri="{FF2B5EF4-FFF2-40B4-BE49-F238E27FC236}">
                <a16:creationId xmlns:a16="http://schemas.microsoft.com/office/drawing/2014/main" id="{7601C84A-6493-B46D-5A66-9106E3C19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66" y="3076303"/>
            <a:ext cx="3666633" cy="1456508"/>
          </a:xfrm>
          <a:prstGeom prst="rect">
            <a:avLst/>
          </a:prstGeom>
        </p:spPr>
      </p:pic>
      <p:pic>
        <p:nvPicPr>
          <p:cNvPr id="84" name="Imagen 83">
            <a:extLst>
              <a:ext uri="{FF2B5EF4-FFF2-40B4-BE49-F238E27FC236}">
                <a16:creationId xmlns:a16="http://schemas.microsoft.com/office/drawing/2014/main" id="{6968C12F-DD86-0000-2FE9-92B405D8E3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561"/>
          <a:stretch>
            <a:fillRect/>
          </a:stretch>
        </p:blipFill>
        <p:spPr>
          <a:xfrm>
            <a:off x="4421199" y="1881050"/>
            <a:ext cx="4357040" cy="175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27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SCY1101 · Análisis de Medicamentos · DuocUC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1 — VISUALIZACIÓN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E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 de distribución según número de componentes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8412480" cy="3657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1097280" y="23774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ESPACIO PARA IMAGEN 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926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Insertar: network_graph_coocurrencia.png  ó  top_pares_componentes.png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4553712"/>
            <a:ext cx="841248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65760" y="455371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clusters terapéuticos separados · Metformin como hub central · Complejos con MENOS efectos que tríos (contraintuitivo)</a:t>
            </a:r>
            <a:endParaRPr lang="en-US" sz="85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BC387FF-7292-3D88-714E-28E771D40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028" y="1403581"/>
            <a:ext cx="5227943" cy="30449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D6291-3B24-C7E4-27A5-26A8D65C5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BD0843-552C-9606-AF4C-AAC2887B575C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D941BD-9534-99BD-F4A8-6B863BA2C5CC}"/>
              </a:ext>
            </a:extLst>
          </p:cNvPr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SCY1101 · Análisis de Medicamentos · DuocUC 2026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F3BC0C4-3477-0DB1-2B72-59761CA9C759}"/>
              </a:ext>
            </a:extLst>
          </p:cNvPr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1CEDC61-402F-05DF-004F-1822217ACE3A}"/>
              </a:ext>
            </a:extLst>
          </p:cNvPr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7D8CD4-146C-B868-77EE-88E8551586F4}"/>
              </a:ext>
            </a:extLst>
          </p:cNvPr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1 — VISUALIZACIÓN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B504AF3-B596-8A53-9710-7EECAE3295DA}"/>
              </a:ext>
            </a:extLst>
          </p:cNvPr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Gráficos: </a:t>
            </a:r>
            <a:r>
              <a:rPr lang="es-E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</a:t>
            </a:r>
            <a:r>
              <a:rPr lang="es-E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r>
              <a:rPr lang="es-E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(Red de </a:t>
            </a:r>
            <a:r>
              <a:rPr lang="es-E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co-ocurrencia</a:t>
            </a:r>
            <a:r>
              <a:rPr lang="es-E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015CB8D-E1EC-96B2-9A41-33440460DEEF}"/>
              </a:ext>
            </a:extLst>
          </p:cNvPr>
          <p:cNvSpPr/>
          <p:nvPr/>
        </p:nvSpPr>
        <p:spPr>
          <a:xfrm>
            <a:off x="365760" y="1261872"/>
            <a:ext cx="8412480" cy="3657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253EB7D-B704-812E-3F8B-6B447632A1B5}"/>
              </a:ext>
            </a:extLst>
          </p:cNvPr>
          <p:cNvSpPr/>
          <p:nvPr/>
        </p:nvSpPr>
        <p:spPr>
          <a:xfrm>
            <a:off x="1097280" y="2926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Insertar: network_graph_coocurrencia.png  ó  top_pares_componentes.png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E1D678A-D1C2-127D-2E70-E9BB0C8E78D0}"/>
              </a:ext>
            </a:extLst>
          </p:cNvPr>
          <p:cNvSpPr/>
          <p:nvPr/>
        </p:nvSpPr>
        <p:spPr>
          <a:xfrm>
            <a:off x="365760" y="4553712"/>
            <a:ext cx="841248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72592F7-EC46-9042-17EF-9D9FF1CCA6BB}"/>
              </a:ext>
            </a:extLst>
          </p:cNvPr>
          <p:cNvSpPr/>
          <p:nvPr/>
        </p:nvSpPr>
        <p:spPr>
          <a:xfrm>
            <a:off x="365760" y="455371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clusters terapéuticos separados · Metformin como hub central · Complejos con MENOS efectos que tríos (contraintuitivo)</a:t>
            </a:r>
            <a:endParaRPr lang="en-US" sz="85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5480EC5-0560-2A1C-8D68-011967063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083" y="1339526"/>
            <a:ext cx="4225834" cy="31731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3354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7C2BA-E4AE-200C-B780-627B37592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CFEE99-3882-66D5-387F-4B67904A09F0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A2E3BC-4EB6-379F-2558-1A78F26618A8}"/>
              </a:ext>
            </a:extLst>
          </p:cNvPr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SCY1101 · Análisis de Medicamentos · DuocUC 2026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2E0B83A-3DF4-00C2-BA5E-DF029D7795B5}"/>
              </a:ext>
            </a:extLst>
          </p:cNvPr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F7F960C-CDC2-4292-3E7D-5E9426B930DE}"/>
              </a:ext>
            </a:extLst>
          </p:cNvPr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1D5C4A-5B27-B831-BF55-77674FBCE097}"/>
              </a:ext>
            </a:extLst>
          </p:cNvPr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1 — VISUALIZACIÓN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7792341-4047-A6E9-258E-E7905DF063F2}"/>
              </a:ext>
            </a:extLst>
          </p:cNvPr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Gráficos: </a:t>
            </a:r>
            <a:r>
              <a:rPr lang="es-E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</a:t>
            </a:r>
            <a:r>
              <a:rPr lang="es-E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Efectos secundarios según tamaño</a:t>
            </a:r>
            <a:endParaRPr lang="en-US" sz="2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41BB815-0234-9777-59A6-7B22C76B4663}"/>
              </a:ext>
            </a:extLst>
          </p:cNvPr>
          <p:cNvSpPr/>
          <p:nvPr/>
        </p:nvSpPr>
        <p:spPr>
          <a:xfrm>
            <a:off x="365760" y="1261872"/>
            <a:ext cx="8412480" cy="3657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653F0B8-9169-AABB-8B53-AEA4853BB1F0}"/>
              </a:ext>
            </a:extLst>
          </p:cNvPr>
          <p:cNvSpPr/>
          <p:nvPr/>
        </p:nvSpPr>
        <p:spPr>
          <a:xfrm>
            <a:off x="1097280" y="2926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Insertar: network_graph_coocurrencia.png  ó  top_pares_componentes.png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E43DE81-A7AC-DC73-718E-751F1BF978DA}"/>
              </a:ext>
            </a:extLst>
          </p:cNvPr>
          <p:cNvSpPr/>
          <p:nvPr/>
        </p:nvSpPr>
        <p:spPr>
          <a:xfrm>
            <a:off x="365760" y="4553712"/>
            <a:ext cx="8412480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804A20B-CB46-232A-0BC1-3BB0DAD1BC21}"/>
              </a:ext>
            </a:extLst>
          </p:cNvPr>
          <p:cNvSpPr/>
          <p:nvPr/>
        </p:nvSpPr>
        <p:spPr>
          <a:xfrm>
            <a:off x="365760" y="455371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clusters terapéuticos separados · Metformin como hub central · Complejos con MENOS efectos que tríos (contraintuitivo)</a:t>
            </a:r>
            <a:endParaRPr lang="en-US" sz="85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81E4870-EF8A-203F-2ED5-F81C079D4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465" y="1386166"/>
            <a:ext cx="4727069" cy="30798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27107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SCY1101 · Análisis de Medicamentos · DuocUC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por Empresa / Manufacturer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8412480" cy="3657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365760" y="1389888"/>
            <a:ext cx="3200400" cy="1828800"/>
          </a:xfrm>
          <a:prstGeom prst="rect">
            <a:avLst/>
          </a:prstGeom>
          <a:solidFill>
            <a:srgbClr val="FBE9E7"/>
          </a:solidFill>
          <a:ln w="254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¿Tamaño = Calidad?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36576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0,019 (correlación nula)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389888"/>
          <a:ext cx="5029200" cy="182880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Lideran en VOLUMEN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4A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Lideran en REPUTACIÓN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 Pharma · 819 meds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AstraZeneca · balance +45,71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Intas · 648 meds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Jubilant Life · balance +39,47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Cipla · 569 meds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 Lilly · balance +34,89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65760" y="3364992"/>
            <a:ext cx="8412480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2"/>
          <p:cNvSpPr/>
          <p:nvPr/>
        </p:nvSpPr>
        <p:spPr>
          <a:xfrm>
            <a:off x="365760" y="3364992"/>
            <a:ext cx="91440" cy="80467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594360" y="3429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940 composiciones compartidas entre ≥2 fabricantes  ·  660 en ≥3 fabricantes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" y="37307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máximo de 160 pts de review_balance sobre la misma molécula (Dabigatran Etexilate)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SCY1101 · Análisis de Medicamentos · DuocUC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2 — VISUALIZACIÓN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Barra Vertical Top 15 </a:t>
            </a: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cant de </a:t>
            </a: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8412480" cy="3657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097280" y="2926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Insertar: reputation_ranking.png  ó  quality_vs_quantity.png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4553712"/>
            <a:ext cx="8412480" cy="182880"/>
          </a:xfrm>
          <a:prstGeom prst="rect">
            <a:avLst/>
          </a:prstGeom>
          <a:solidFill>
            <a:srgbClr val="FBE9E7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65760" y="455371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759 fabricantes · empresas medianas lideran reputación · volumen y calidad no correlacionan (r = 0,019)</a:t>
            </a:r>
            <a:endParaRPr lang="en-US" sz="8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7C253F9-CA2C-810C-6020-2E0819761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278" y="1357884"/>
            <a:ext cx="5257443" cy="31363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F2260-1158-CCB6-8368-910283158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4F278B-0C0E-2077-D685-FE3DAAC7DDF5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5C6961-28ED-7958-B90E-0F2D64B76FC0}"/>
              </a:ext>
            </a:extLst>
          </p:cNvPr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SCY1101 · Análisis de Medicamentos · DuocUC 2026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D27CE6D-710D-358B-8170-A7C239B8BE1F}"/>
              </a:ext>
            </a:extLst>
          </p:cNvPr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FEF129A-7925-B286-0FFE-8C0D03D3B783}"/>
              </a:ext>
            </a:extLst>
          </p:cNvPr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7721970-A467-F187-6F4F-40CB6D7439C3}"/>
              </a:ext>
            </a:extLst>
          </p:cNvPr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2 — VISUALIZACIÓN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995EBA6-8CF0-5BEC-722C-18F0DE1ADF00}"/>
              </a:ext>
            </a:extLst>
          </p:cNvPr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Bloxpot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balance revision </a:t>
            </a: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en-US" sz="2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078C540-0094-2256-94A9-5BF2DA3028B3}"/>
              </a:ext>
            </a:extLst>
          </p:cNvPr>
          <p:cNvSpPr/>
          <p:nvPr/>
        </p:nvSpPr>
        <p:spPr>
          <a:xfrm>
            <a:off x="365760" y="1261872"/>
            <a:ext cx="8412480" cy="3657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FF754E5-88EF-9F93-6189-B0123795436C}"/>
              </a:ext>
            </a:extLst>
          </p:cNvPr>
          <p:cNvSpPr/>
          <p:nvPr/>
        </p:nvSpPr>
        <p:spPr>
          <a:xfrm>
            <a:off x="1097280" y="23774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ESPACIO PARA IMAGEN ]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F6BABFC-FE0D-1454-108A-A1EA15FB1246}"/>
              </a:ext>
            </a:extLst>
          </p:cNvPr>
          <p:cNvSpPr/>
          <p:nvPr/>
        </p:nvSpPr>
        <p:spPr>
          <a:xfrm>
            <a:off x="1097280" y="2926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Insertar: reputation_ranking.png  ó  quality_vs_quantity.png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31C9B5D-8BB0-CCCE-35D0-C06768B22097}"/>
              </a:ext>
            </a:extLst>
          </p:cNvPr>
          <p:cNvSpPr/>
          <p:nvPr/>
        </p:nvSpPr>
        <p:spPr>
          <a:xfrm>
            <a:off x="365760" y="4553712"/>
            <a:ext cx="8412480" cy="182880"/>
          </a:xfrm>
          <a:prstGeom prst="rect">
            <a:avLst/>
          </a:prstGeom>
          <a:solidFill>
            <a:srgbClr val="FBE9E7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00C2831-C48E-AED1-2229-408655676376}"/>
              </a:ext>
            </a:extLst>
          </p:cNvPr>
          <p:cNvSpPr/>
          <p:nvPr/>
        </p:nvSpPr>
        <p:spPr>
          <a:xfrm>
            <a:off x="365760" y="455371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759 fabricantes · empresas medianas lideran reputación · volumen y calidad no correlacionan (r = 0,019)</a:t>
            </a:r>
            <a:endParaRPr lang="en-US" sz="8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B13E1BD-1148-F886-86F1-9BC00EB8B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166" y="1396330"/>
            <a:ext cx="6165668" cy="30594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36438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D838A-A328-C7FA-1B5B-477946101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3995D1-807D-47F3-8AAB-C0D80069E9A2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EBA632-B277-1493-5D1C-E21B528ECECC}"/>
              </a:ext>
            </a:extLst>
          </p:cNvPr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SCY1101 · Análisis de Medicamentos · DuocUC 2026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C88FC2-1686-7758-2F40-EAF31195AFCB}"/>
              </a:ext>
            </a:extLst>
          </p:cNvPr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6A7B24A-A88B-8D13-95D4-CA60DE89C468}"/>
              </a:ext>
            </a:extLst>
          </p:cNvPr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1DEC9E1-412C-6C80-C6A7-D46DDA851441}"/>
              </a:ext>
            </a:extLst>
          </p:cNvPr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2 — VISUALIZACIÓN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9AFEB7D-CBFF-E7D6-CE32-1E3FAC757AE6}"/>
              </a:ext>
            </a:extLst>
          </p:cNvPr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Gráficos: Comparación por Empresa</a:t>
            </a:r>
            <a:endParaRPr lang="en-US" sz="2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2DEDC10-4669-34CD-2A9C-5E0FBF8467AE}"/>
              </a:ext>
            </a:extLst>
          </p:cNvPr>
          <p:cNvSpPr/>
          <p:nvPr/>
        </p:nvSpPr>
        <p:spPr>
          <a:xfrm>
            <a:off x="365760" y="1261872"/>
            <a:ext cx="8412480" cy="3657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67357C6-6472-22E6-9BB4-93D0C9F45347}"/>
              </a:ext>
            </a:extLst>
          </p:cNvPr>
          <p:cNvSpPr/>
          <p:nvPr/>
        </p:nvSpPr>
        <p:spPr>
          <a:xfrm>
            <a:off x="1097280" y="2926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Insertar: reputation_ranking.png  ó  quality_vs_quantity.png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FB80F3E-578B-53E5-B4D0-62C3E1C21717}"/>
              </a:ext>
            </a:extLst>
          </p:cNvPr>
          <p:cNvSpPr/>
          <p:nvPr/>
        </p:nvSpPr>
        <p:spPr>
          <a:xfrm>
            <a:off x="365760" y="4553712"/>
            <a:ext cx="8412480" cy="182880"/>
          </a:xfrm>
          <a:prstGeom prst="rect">
            <a:avLst/>
          </a:prstGeom>
          <a:solidFill>
            <a:srgbClr val="FBE9E7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4394E6C-EF9C-D892-681C-E51E88577519}"/>
              </a:ext>
            </a:extLst>
          </p:cNvPr>
          <p:cNvSpPr/>
          <p:nvPr/>
        </p:nvSpPr>
        <p:spPr>
          <a:xfrm>
            <a:off x="365760" y="455371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759 fabricantes · empresas medianas lideran reputación · volumen y calidad no correlacionan (r = 0,019)</a:t>
            </a:r>
            <a:endParaRPr lang="en-US" sz="8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C49B3465-D80C-0CBC-461A-E3E59466D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064" y="1390858"/>
            <a:ext cx="4865871" cy="30704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27440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SCY1101 · Análisis de Medicamentos · DuocUC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Efectos Secundarios por Componentes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8412480" cy="36576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365760" y="1389888"/>
            <a:ext cx="1920240" cy="12344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😷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901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Nausea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17627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del dataset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87168" y="1389888"/>
            <a:ext cx="1920240" cy="12344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2487168" y="1463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🤕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87168" y="1901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87168" y="217627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del dataset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08576" y="1389888"/>
            <a:ext cx="1920240" cy="12344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608576" y="1463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🚽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08576" y="1901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Diarrhea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08576" y="217627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del dataset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9984" y="1389888"/>
            <a:ext cx="1920240" cy="12344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6729984" y="1463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💫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29984" y="1901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Dizziness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9984" y="217627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del dataset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761488"/>
            <a:ext cx="8412480" cy="1097280"/>
          </a:xfrm>
          <a:prstGeom prst="rect">
            <a:avLst/>
          </a:prstGeom>
          <a:solidFill>
            <a:srgbClr val="F5F5F5"/>
          </a:solidFill>
          <a:ln w="1905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365760" y="2761488"/>
            <a:ext cx="91440" cy="109728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594360" y="2834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técnico principal: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108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Side_effects no tiene separador explícito. Los efectos se concatenan con mayúscula inicial como único delimitador.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34015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re.findall(r'[A-Z][^A-Z]*', texto) — captura efectos multipalabra como 'Abdominal pain' o 'High blood pressure'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977640"/>
            <a:ext cx="8412480" cy="411480"/>
          </a:xfrm>
          <a:prstGeom prst="rect">
            <a:avLst/>
          </a:prstGeom>
          <a:solidFill>
            <a:srgbClr val="F3E5F5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n_efectos ↔ Poor Review %: r = −0,040 (prácticamente nula)  ·  Más efectos listados NO empeora la percepción del usuario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SCY1101 · Análisis de Medicamentos · DuocUC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3 — VISUALIZACIÓN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Barras </a:t>
            </a: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verticales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 20 comp. mayor </a:t>
            </a: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8412480" cy="36576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1097280" y="23774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ESPACIO PARA IMAGEN 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926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Insertar: boxplot_efectos_secundarios.png  ó  e03_top_efectos_globales.png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4553712"/>
            <a:ext cx="8412480" cy="182880"/>
          </a:xfrm>
          <a:prstGeom prst="rect">
            <a:avLst/>
          </a:prstGeom>
          <a:solidFill>
            <a:srgbClr val="F3E5F5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65760" y="455371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Media: 6,92 efectos/medicamento  ·  Tríos tienen más efectos que complejos  ·  761 efectos únicos detectados</a:t>
            </a:r>
            <a:endParaRPr lang="en-US" sz="8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B5FB5D8-6AD4-B1B1-8F11-FBA8D26E2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343" y="1348496"/>
            <a:ext cx="4535144" cy="30856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57E0D-A1E9-540F-21F1-C588B1D1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08A904-0D84-A2AB-3835-E44CFF4BF0A6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5E76F5-C4DC-FF25-F0C5-D42660790D16}"/>
              </a:ext>
            </a:extLst>
          </p:cNvPr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SCY1101 · Análisis de Medicamentos · DuocUC 2026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1791B0-AFBC-95BC-2CF1-5D4FE8C398AE}"/>
              </a:ext>
            </a:extLst>
          </p:cNvPr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956BC9F-FE54-DD01-0971-8EE6D99BACEA}"/>
              </a:ext>
            </a:extLst>
          </p:cNvPr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51AF536-82E7-A0CD-E59F-1BFB3F4F042D}"/>
              </a:ext>
            </a:extLst>
          </p:cNvPr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3 — VISUALIZACIÓN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DA86EC-F0E9-DF6C-9E82-729291D92724}"/>
              </a:ext>
            </a:extLst>
          </p:cNvPr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Gráficos:Barras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verticales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 15 </a:t>
            </a: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efectos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B386993-B418-2989-CCC8-A33C9002807B}"/>
              </a:ext>
            </a:extLst>
          </p:cNvPr>
          <p:cNvSpPr/>
          <p:nvPr/>
        </p:nvSpPr>
        <p:spPr>
          <a:xfrm>
            <a:off x="365760" y="1261872"/>
            <a:ext cx="8412480" cy="36576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D0C28E1-C562-52CB-38EB-9D8A7F72044F}"/>
              </a:ext>
            </a:extLst>
          </p:cNvPr>
          <p:cNvSpPr/>
          <p:nvPr/>
        </p:nvSpPr>
        <p:spPr>
          <a:xfrm>
            <a:off x="1097280" y="23774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ESPACIO PARA IMAGEN ]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63956D4-A2C3-0550-3C37-7DC0613BBCE3}"/>
              </a:ext>
            </a:extLst>
          </p:cNvPr>
          <p:cNvSpPr/>
          <p:nvPr/>
        </p:nvSpPr>
        <p:spPr>
          <a:xfrm>
            <a:off x="1097280" y="2926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Insertar: boxplot_efectos_secundarios.png  ó  e03_top_efectos_globales.png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167B6B3-82C1-225A-BAA8-B31E20689104}"/>
              </a:ext>
            </a:extLst>
          </p:cNvPr>
          <p:cNvSpPr/>
          <p:nvPr/>
        </p:nvSpPr>
        <p:spPr>
          <a:xfrm>
            <a:off x="365760" y="4553712"/>
            <a:ext cx="8412480" cy="182880"/>
          </a:xfrm>
          <a:prstGeom prst="rect">
            <a:avLst/>
          </a:prstGeom>
          <a:solidFill>
            <a:srgbClr val="F3E5F5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60AD680-4DAF-0B96-693D-1E2EA0805922}"/>
              </a:ext>
            </a:extLst>
          </p:cNvPr>
          <p:cNvSpPr/>
          <p:nvPr/>
        </p:nvSpPr>
        <p:spPr>
          <a:xfrm>
            <a:off x="365760" y="455371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Media: 6,92 efectos/medicamento  ·  Tríos tienen más efectos que complejos  ·  761 efectos únicos detectados</a:t>
            </a:r>
            <a:endParaRPr lang="en-US" sz="8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670713C-6FEB-A05D-AF76-D3753CAFB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514" y="1389052"/>
            <a:ext cx="5616972" cy="30740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0092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7C7DF-AF86-8D50-5DA2-CD9A11F1C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ADC353-E5D2-2D22-3720-2D66765B4824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7AEA9A-DD7A-5C5C-2242-E5E9BE355442}"/>
              </a:ext>
            </a:extLst>
          </p:cNvPr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SCY1101 · Análisis de Medicamentos · DuocUC 2026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2D5B9A5-2CD3-3E54-E480-AF36AE77392C}"/>
              </a:ext>
            </a:extLst>
          </p:cNvPr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FAA912-AD3A-7BAB-0AF9-12D38C6464AC}"/>
              </a:ext>
            </a:extLst>
          </p:cNvPr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9843C15-A491-24B7-20EA-4FC974228266}"/>
              </a:ext>
            </a:extLst>
          </p:cNvPr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3 — VISUALIZACIÓN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114CF57-61BC-3A3E-CB5B-3999D96BACFC}"/>
              </a:ext>
            </a:extLst>
          </p:cNvPr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meds. Segun n° </a:t>
            </a:r>
            <a:r>
              <a:rPr lang="en-US" sz="26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efectos</a:t>
            </a: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sec.</a:t>
            </a:r>
            <a:endParaRPr lang="en-US" sz="2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B9AC2EA-4246-71CB-5628-0D75B08556EE}"/>
              </a:ext>
            </a:extLst>
          </p:cNvPr>
          <p:cNvSpPr/>
          <p:nvPr/>
        </p:nvSpPr>
        <p:spPr>
          <a:xfrm>
            <a:off x="365760" y="1261872"/>
            <a:ext cx="8412480" cy="36576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F872D58-6B69-9973-F1AD-5A7C3987DD57}"/>
              </a:ext>
            </a:extLst>
          </p:cNvPr>
          <p:cNvSpPr/>
          <p:nvPr/>
        </p:nvSpPr>
        <p:spPr>
          <a:xfrm>
            <a:off x="1097280" y="23774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ESPACIO PARA IMAGEN ]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71E761B-5843-652D-1F99-9C46820E92C9}"/>
              </a:ext>
            </a:extLst>
          </p:cNvPr>
          <p:cNvSpPr/>
          <p:nvPr/>
        </p:nvSpPr>
        <p:spPr>
          <a:xfrm>
            <a:off x="1097280" y="2926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Insertar: boxplot_efectos_secundarios.png  ó  e03_top_efectos_globales.png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E03CA16-2BB5-E495-7E58-36B07D9AEC49}"/>
              </a:ext>
            </a:extLst>
          </p:cNvPr>
          <p:cNvSpPr/>
          <p:nvPr/>
        </p:nvSpPr>
        <p:spPr>
          <a:xfrm>
            <a:off x="365760" y="4553712"/>
            <a:ext cx="8412480" cy="182880"/>
          </a:xfrm>
          <a:prstGeom prst="rect">
            <a:avLst/>
          </a:prstGeom>
          <a:solidFill>
            <a:srgbClr val="F3E5F5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19394FE-A723-1A4F-6536-51E85963A3D7}"/>
              </a:ext>
            </a:extLst>
          </p:cNvPr>
          <p:cNvSpPr/>
          <p:nvPr/>
        </p:nvSpPr>
        <p:spPr>
          <a:xfrm>
            <a:off x="365760" y="455371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Media: 6,92 efectos/medicamento  ·  Tríos tienen más efectos que complejos  ·  761 efectos únicos detectados</a:t>
            </a:r>
            <a:endParaRPr lang="en-US" sz="8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44AAE2E-CDF0-B351-D8D0-84F449BB9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283" y="1395826"/>
            <a:ext cx="5597434" cy="30605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429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SCY1101 · Análisis de Medicamentos · DuocUC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Técnicas Clave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6517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2651760" cy="3840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pd.Categorical(ordered=True)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395728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el orden farmacológico mono &lt; duo &lt; trio &lt; cuádruple &lt; complejo en sort_values, groupby y visualizaciones. Sin ordered=True el orden sería alfabético.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1417320"/>
            <a:ext cx="26517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BF36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3172968" y="1417320"/>
            <a:ext cx="2651760" cy="38404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3172968" y="14173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64408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composition_key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64408" y="2395728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canónica basada en principios activos (no en nombre comercial). Permite comparar fabricantes sobre la misma molécula de forma robusta: 940 composiciones compartidas identificadas.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25896" y="1417320"/>
            <a:ext cx="26517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4A148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6025896" y="1417320"/>
            <a:ext cx="2651760" cy="38404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025896" y="14173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17336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del crosstab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17336" y="2395728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 por sumas de fila elimina el sesgo de frecuencia. Metformin (664 meds) y un componente raro (10 meds) pueden compararse en equidad sin que el volumen distorsione el análisis.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453128"/>
            <a:ext cx="85039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320040" y="44531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Principios: explode() &gt; iterrows()  ·  vectorización &gt; loops  ·  apply() solo cuando no hay alternativa vectorizada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SCY1101 · Análisis de Medicamentos · DuocUC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Integridad y Trazabilidad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841248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9144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40080" y="1563624"/>
            <a:ext cx="347472" cy="34747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640080" y="1563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472184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MD5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728216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93656e73e4e8fbf7dd8da9ecfab7ce07 — Si el hash cambia, el análisis es potencialmente inválido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91440" cy="65836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40080" y="2386584"/>
            <a:ext cx="347472" cy="347472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40080" y="2386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295144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esquema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551176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columnas con tipos de datos correctos verificados en cada ejecución del pipeline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841248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91440" cy="65836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640080" y="3209544"/>
            <a:ext cx="347472" cy="347472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640080" y="3209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118104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shapes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3374136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filas eliminadas (0,71%) documentadas — shapes antes y después registradas automáticamente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886200"/>
            <a:ext cx="841248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365760" y="3886200"/>
            <a:ext cx="91440" cy="65836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640080" y="4032504"/>
            <a:ext cx="347472" cy="347472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640080" y="4032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3941064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JSON con timestamp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" y="4197096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Exportado a outputs/reports/reporte_integridad.json — trazabilidad completa del pipeline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SCY1101 · Análisis de Medicamentos · DuocUC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384048" cy="5486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0607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está centrado en diabetes, hipertensión y dolor — Metformin y Telmisartan dominan como hubs.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73936"/>
            <a:ext cx="384048" cy="5486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65760" y="1773936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828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Glimepiride + Metformin es el par top (325 meds, 2,6x sobre el 2°). Los clusters terapéuticos no cruzan áreas.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42032"/>
            <a:ext cx="384048" cy="5486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365760" y="2542032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259689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del fabricante NO predice calidad percibida: r = 0,019. Las empresas medianas lideran en reputación.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10128"/>
            <a:ext cx="384048" cy="548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365760" y="3310128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3649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componentes NO implica más efectos secundarios. Los complejos tienen el perfil de seguridad más controlado.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078224"/>
            <a:ext cx="384048" cy="5486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365760" y="4078224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413308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fabricante importa: sobre la misma molécula existe un gap de hasta 160 pts de review_balance entre empresas.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62B47"/>
          </a:solidFill>
          <a:ln w="12700">
            <a:solidFill>
              <a:srgbClr val="162B4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reproducible  ·  19 gráficos generados  ·  3 enfoques  ·  1 dataset  ·  MD5 verificado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1489</Words>
  <Application>Microsoft Office PowerPoint</Application>
  <PresentationFormat>Presentación en pantalla (16:9)</PresentationFormat>
  <Paragraphs>224</Paragraphs>
  <Slides>19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SCY1101 - Análisis de Medicamentos</dc:title>
  <dc:subject>PptxGenJS Presentation</dc:subject>
  <dc:creator>PptxGenJS</dc:creator>
  <cp:lastModifiedBy>Lucas Moncada Espinoza</cp:lastModifiedBy>
  <cp:revision>2</cp:revision>
  <dcterms:created xsi:type="dcterms:W3CDTF">2026-04-10T19:01:15Z</dcterms:created>
  <dcterms:modified xsi:type="dcterms:W3CDTF">2026-04-10T19:40:56Z</dcterms:modified>
</cp:coreProperties>
</file>